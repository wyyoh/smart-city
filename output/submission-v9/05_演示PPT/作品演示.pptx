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cb3a3c4e7c4386" /><Relationship Type="http://schemas.openxmlformats.org/officeDocument/2006/relationships/extended-properties" Target="/docProps/app.xml" Id="R0d2e9281d7df4b85" /><Relationship Type="http://schemas.openxmlformats.org/officeDocument/2006/relationships/officeDocument" Target="/ppt/presentation.xml" Id="R4eb6129333c249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277ace4da24fa1"/>
  </p:sldMasterIdLst>
  <p:notesMasterIdLst>
    <p:notesMasterId xmlns:r="http://schemas.openxmlformats.org/officeDocument/2006/relationships" r:id="R53a508c38b51444e"/>
  </p:notesMasterIdLst>
  <p:sldIdLst>
    <p:sldId xmlns:r="http://schemas.openxmlformats.org/officeDocument/2006/relationships" id="256" r:id="R274b5480763343f9"/>
    <p:sldId xmlns:r="http://schemas.openxmlformats.org/officeDocument/2006/relationships" id="257" r:id="R26d84b0ca8954b0d"/>
    <p:sldId xmlns:r="http://schemas.openxmlformats.org/officeDocument/2006/relationships" id="258" r:id="Ra15d7d5af32c492f"/>
    <p:sldId xmlns:r="http://schemas.openxmlformats.org/officeDocument/2006/relationships" id="259" r:id="R7c2882af935e45d5"/>
    <p:sldId xmlns:r="http://schemas.openxmlformats.org/officeDocument/2006/relationships" id="260" r:id="R68c5df028ae2496c"/>
    <p:sldId xmlns:r="http://schemas.openxmlformats.org/officeDocument/2006/relationships" id="261" r:id="Rbf10ff796d8f4bc8"/>
    <p:sldId xmlns:r="http://schemas.openxmlformats.org/officeDocument/2006/relationships" id="262" r:id="R0d0e415ce1e24f79"/>
    <p:sldId xmlns:r="http://schemas.openxmlformats.org/officeDocument/2006/relationships" id="263" r:id="R30ea9e7f82a04222"/>
    <p:sldId xmlns:r="http://schemas.openxmlformats.org/officeDocument/2006/relationships" id="264" r:id="R8c554b54ed374610"/>
    <p:sldId xmlns:r="http://schemas.openxmlformats.org/officeDocument/2006/relationships" id="265" r:id="R8737c5fa466a48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7529eb63f4d13" /><Relationship Type="http://schemas.openxmlformats.org/officeDocument/2006/relationships/slideMaster" Target="/ppt/slideMasters/slideMaster1.xml" Id="R55277ace4da24fa1" /><Relationship Type="http://schemas.openxmlformats.org/officeDocument/2006/relationships/notesMaster" Target="/ppt/notesMasters/notesMaster1.xml" Id="R53a508c38b51444e" /><Relationship Type="http://schemas.openxmlformats.org/officeDocument/2006/relationships/presProps" Target="/ppt/presProps.xml" Id="R273627ca5a314f28" /><Relationship Type="http://schemas.openxmlformats.org/officeDocument/2006/relationships/tableStyles" Target="/ppt/tableStyles.xml" Id="R18a672ceb69246dc" /><Relationship Type="http://schemas.openxmlformats.org/officeDocument/2006/relationships/slide" Target="/ppt/slides/slide1.xml" Id="R274b5480763343f9" /><Relationship Type="http://schemas.openxmlformats.org/officeDocument/2006/relationships/slide" Target="/ppt/slides/slide2.xml" Id="R26d84b0ca8954b0d" /><Relationship Type="http://schemas.openxmlformats.org/officeDocument/2006/relationships/slide" Target="/ppt/slides/slide3.xml" Id="Ra15d7d5af32c492f" /><Relationship Type="http://schemas.openxmlformats.org/officeDocument/2006/relationships/slide" Target="/ppt/slides/slide4.xml" Id="R7c2882af935e45d5" /><Relationship Type="http://schemas.openxmlformats.org/officeDocument/2006/relationships/slide" Target="/ppt/slides/slide5.xml" Id="R68c5df028ae2496c" /><Relationship Type="http://schemas.openxmlformats.org/officeDocument/2006/relationships/slide" Target="/ppt/slides/slide6.xml" Id="Rbf10ff796d8f4bc8" /><Relationship Type="http://schemas.openxmlformats.org/officeDocument/2006/relationships/slide" Target="/ppt/slides/slide7.xml" Id="R0d0e415ce1e24f79" /><Relationship Type="http://schemas.openxmlformats.org/officeDocument/2006/relationships/slide" Target="/ppt/slides/slide8.xml" Id="R30ea9e7f82a04222" /><Relationship Type="http://schemas.openxmlformats.org/officeDocument/2006/relationships/slide" Target="/ppt/slides/slide9.xml" Id="R8c554b54ed374610" /><Relationship Type="http://schemas.openxmlformats.org/officeDocument/2006/relationships/slide" Target="/ppt/slides/slide10.xml" Id="R8737c5fa466a48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d4587524d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60e8475594ecd" /><Relationship Type="http://schemas.openxmlformats.org/officeDocument/2006/relationships/notesMaster" Target="/ppt/notesMasters/notesMaster1.xml" Id="Rde7909cea48a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b82d2367bf4ef6" /><Relationship Type="http://schemas.openxmlformats.org/officeDocument/2006/relationships/notesMaster" Target="/ppt/notesMasters/notesMaster1.xml" Id="Rd4a9363ce33948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01b2948e464404" /><Relationship Type="http://schemas.openxmlformats.org/officeDocument/2006/relationships/notesMaster" Target="/ppt/notesMasters/notesMaster1.xml" Id="Rdb55954cb7d64a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3db3fe9eb64932" /><Relationship Type="http://schemas.openxmlformats.org/officeDocument/2006/relationships/notesMaster" Target="/ppt/notesMasters/notesMaster1.xml" Id="R53aa0447350a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a6655eeb6347df" /><Relationship Type="http://schemas.openxmlformats.org/officeDocument/2006/relationships/notesMaster" Target="/ppt/notesMasters/notesMaster1.xml" Id="R5b05a98478294b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8c92182a3d40ed" /><Relationship Type="http://schemas.openxmlformats.org/officeDocument/2006/relationships/notesMaster" Target="/ppt/notesMasters/notesMaster1.xml" Id="R42d1338ea526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9adfd93ed546ed" /><Relationship Type="http://schemas.openxmlformats.org/officeDocument/2006/relationships/notesMaster" Target="/ppt/notesMasters/notesMaster1.xml" Id="Re6c0b5749e4044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7ac769687441fe" /><Relationship Type="http://schemas.openxmlformats.org/officeDocument/2006/relationships/notesMaster" Target="/ppt/notesMasters/notesMaster1.xml" Id="R1bcebce7385547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939bd3beb048b3" /><Relationship Type="http://schemas.openxmlformats.org/officeDocument/2006/relationships/notesMaster" Target="/ppt/notesMasters/notesMaster1.xml" Id="R773664afd59341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faa426b8be4c23" /><Relationship Type="http://schemas.openxmlformats.org/officeDocument/2006/relationships/notesMaster" Target="/ppt/notesMasters/notesMaster1.xml" Id="Ra1619946d2a447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作品面向养护工程师，核心是把场景要求、历史候选比较和配方探索保存在同一决策过程中。我们展示已实现的核心流程，并清楚标注模型和新配方的研究边界。研发采用AI辅助，内容由参赛者复核。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https://cpipc.acge.org.cn/cw/contestNews/detail/1/2c9080189fb0808c019fc63d2f083049?page=0</a:t>
            </a:r>
          </a:p>
          <a:p xmlns:a="http://schemas.openxmlformats.org/drawingml/2006/main">
            <a:r>
              <a:t>docs/submission-final-v8.md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课题一的基本成果以创意方案和核心原型为主，允许合理构造案例。当前作品用三类演示规则覆盖高温重载、寒冷裂缝、水损害，并补充资源约束与复合要求形成五案。材料性能实测提升和真实项目收益尚未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https://cpipc.acge.org.cn/cw/contestNews/detail/1/2c9080189ef4ecee019f038802d55c4b?page=0</a:t>
            </a:r>
          </a:p>
          <a:p xmlns:a="http://schemas.openxmlformats.org/drawingml/2006/main">
            <a:r>
              <a:t>https://cpipc.acge.org.cn/cw/contestNews/detail/1/2c9080189fb0808c019fc63d2f083049?page=0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变化、偏好变化和配方变化不能混为一谈。改变要求会重新筛选候选；改变偏好只重排已经数值可行的集合；改变配方会产生独立草案并保留原需求和父配方。五案与B1数值可行集合相同，新增价值体现在可解释、可追溯和可继续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docs/innovation-brief-v8.md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artifacts/polish-v7/completion.json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工程师先确认动稳定度、应变和水稳定要求，再看历史候选及源单元格。84条AC-13目录中，本案有2项数值可行，B1也是2项。场景映射采用登记的演示规则，真实项目需替换成经确认的项目要求。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artifacts/submission-v8/demo/C1-sources.png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寒冷场景有2项数值可行，两者历史应变都是2525微应变，后续指标才区分顺序。工程师从准确的R4父配方选择范围内研究假设，保存油石比4.9%至5.0%的草案。新草案的实测数值保持为空，调整意图不代表性能提升。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artifacts/submission-v8/demo/C2-draft.png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水损害案例有5项数值可行，5项均非支配。TSR优先查看H，残留稳定度优先查看K，工程师可按项目偏好比较余量。切换优先性能不改变可行集合。图中的历史数值和目标线帮助说明选择依据。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artifacts/submission-v8/demo/C3-chart.png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名义RAP至少70%时，当前有1项数值可行。预览提高至75%后，已知数值可行数成为0，系统要求工程师确认并记录理由后另存新决策。完整目录仍有未知证据。RAP质量分母尚未确认，因此不计算减碳。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artifacts/submission-v8/demo/C4-preview.png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合要求在84条目录中没有已知数值可行项，但目录存在缺测，结论首先是证据不足。工程师显式选定35条四项数值完整的子池后，才可查看4组最小冲突及删除见证。该结论限于此子池，不代表物理上不存在满足要求的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artifacts/submission-v8/demo/C5-conflict.png</a:t>
            </a:r>
          </a:p>
          <a:p xmlns:a="http://schemas.openxmlformats.org/drawingml/2006/main">
            <a:r>
              <a:t>artifacts/submission-v8/demo/recording.json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期客户是假设中的养护和材料研发团队，需要先通过需求沟通确认。建议从一个经授权的目录和项目要求起步，交付本地软件、数据字段、规则及案例回放。之后通过真实任务验收再对接养护系统。收费拟由部署配置、持续维护及额外接口服务组成，目前没有客户或收入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docs/business-plan-v9.md</a:t>
            </a:r>
          </a:p>
          <a:p xmlns:a="http://schemas.openxmlformats.org/drawingml/2006/main">
            <a:r>
              <a:t>docs/submission-final-v8.md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可交付的是核心原型、源码、结构化规则数据、五案对照及操作和软件证据。106项Python测试、12项机制验收和14步AI自测支持软件流程，不代表真人效率或材料性能提高。预测模型和逆向生成路线已有研究基础，需要更多证据后继续深化。所有新配方保持独立且未验证的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docs/submission-final-v8.md</a:t>
            </a:r>
          </a:p>
          <a:p xmlns:a="http://schemas.openxmlformats.org/drawingml/2006/main">
            <a:r>
              <a:t>artifacts/submission-v8/verification.json</a:t>
            </a:r>
          </a:p>
          <a:p xmlns:a="http://schemas.openxmlformats.org/drawingml/2006/main">
            <a:r>
              <a:t>artifacts/submission-v8/anonymous-checkout.json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5af1a17b04d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fe85947fa4d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0ca9c31c546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3cd28680646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504b91c2649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f020da70b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58C1CD-F066-4E2B-99EF-0BC37413C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DB6ED6-BE28-46C2-A93B-CE2921B96B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6DA19A-734F-47EA-8557-30EE0F62D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67594E-333A-42B2-BAF8-DF0C8A74A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5E7306-252E-49B6-8784-2C9352BBEB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BE0028-F15F-422F-AA55-D13BF4412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838037-D7F8-4D35-9021-33F1AC7112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40D4BD-CDEC-42E9-94BF-88A73DF4BD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29AC69-3C79-4FEC-BA9F-ECC7AE244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9AB283-6CC7-49C4-9C27-28A24DF574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bf3a93d91429e" /><Relationship Type="http://schemas.openxmlformats.org/officeDocument/2006/relationships/slideLayout" Target="/ppt/slideLayouts/slideLayout1.xml" Id="Reacd934375bc4346" /><Relationship Type="http://schemas.openxmlformats.org/officeDocument/2006/relationships/slideLayout" Target="/ppt/slideLayouts/slideLayout2.xml" Id="Rfa3990f105544911" /><Relationship Type="http://schemas.openxmlformats.org/officeDocument/2006/relationships/slideLayout" Target="/ppt/slideLayouts/slideLayout3.xml" Id="R6e2641df650a4025" /><Relationship Type="http://schemas.openxmlformats.org/officeDocument/2006/relationships/slideLayout" Target="/ppt/slideLayouts/slideLayout4.xml" Id="R266519a3104d4eed" /><Relationship Type="http://schemas.openxmlformats.org/officeDocument/2006/relationships/slideLayout" Target="/ppt/slideLayouts/slideLayout5.xml" Id="R24614c0a7c4f4d3e" /><Relationship Type="http://schemas.openxmlformats.org/officeDocument/2006/relationships/slideLayout" Target="/ppt/slideLayouts/slideLayout6.xml" Id="R641dbcef50d3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d934375bc4346"/>
    <p:sldLayoutId xmlns:r="http://schemas.openxmlformats.org/officeDocument/2006/relationships" id="2147483650" r:id="Rfa3990f105544911"/>
    <p:sldLayoutId xmlns:r="http://schemas.openxmlformats.org/officeDocument/2006/relationships" id="2147483651" r:id="R6e2641df650a4025"/>
    <p:sldLayoutId xmlns:r="http://schemas.openxmlformats.org/officeDocument/2006/relationships" id="2147483652" r:id="R266519a3104d4eed"/>
    <p:sldLayoutId xmlns:r="http://schemas.openxmlformats.org/officeDocument/2006/relationships" id="2147483653" r:id="R24614c0a7c4f4d3e"/>
    <p:sldLayoutId xmlns:r="http://schemas.openxmlformats.org/officeDocument/2006/relationships" id="2147483654" r:id="R641dbcef50d3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8ca0b3af84d3b" /><Relationship Type="http://schemas.openxmlformats.org/officeDocument/2006/relationships/notesSlide" Target="/ppt/notesSlides/notesSlide1.xml" Id="R459d2756d6634d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6b05f71674689" /><Relationship Type="http://schemas.openxmlformats.org/officeDocument/2006/relationships/notesSlide" Target="/ppt/notesSlides/notesSlide2.xml" Id="Reb39fd4e01a9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18d7bbc334283" /><Relationship Type="http://schemas.openxmlformats.org/officeDocument/2006/relationships/notesSlide" Target="/ppt/notesSlides/notesSlide3.xml" Id="R47d48fec2c7942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8060d72d8460d" /><Relationship Type="http://schemas.openxmlformats.org/officeDocument/2006/relationships/image" Target="/ppt/media/image.png" Id="R4223c7cc234646f8" /><Relationship Type="http://schemas.openxmlformats.org/officeDocument/2006/relationships/notesSlide" Target="/ppt/notesSlides/notesSlide4.xml" Id="R0e4c97b87b84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b7a393d7e4427" /><Relationship Type="http://schemas.openxmlformats.org/officeDocument/2006/relationships/image" Target="/ppt/media/image2.png" Id="R3e9672d6762f4c59" /><Relationship Type="http://schemas.openxmlformats.org/officeDocument/2006/relationships/notesSlide" Target="/ppt/notesSlides/notesSlide5.xml" Id="R25d6613bed864c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a1b959eaa4e2d" /><Relationship Type="http://schemas.openxmlformats.org/officeDocument/2006/relationships/image" Target="/ppt/media/image3.png" Id="R39fcc1478b724af1" /><Relationship Type="http://schemas.openxmlformats.org/officeDocument/2006/relationships/notesSlide" Target="/ppt/notesSlides/notesSlide6.xml" Id="R8756a20c39f94d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b7dba8c734b33" /><Relationship Type="http://schemas.openxmlformats.org/officeDocument/2006/relationships/image" Target="/ppt/media/image4.png" Id="R9a4dab5a7b76448b" /><Relationship Type="http://schemas.openxmlformats.org/officeDocument/2006/relationships/notesSlide" Target="/ppt/notesSlides/notesSlide7.xml" Id="R61f6afe09ff3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034624125b4c80" /><Relationship Type="http://schemas.openxmlformats.org/officeDocument/2006/relationships/image" Target="/ppt/media/image5.png" Id="R1879c4e786e4478d" /><Relationship Type="http://schemas.openxmlformats.org/officeDocument/2006/relationships/notesSlide" Target="/ppt/notesSlides/notesSlide8.xml" Id="Ra572344622df41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85eca73644e5f" /><Relationship Type="http://schemas.openxmlformats.org/officeDocument/2006/relationships/notesSlide" Target="/ppt/notesSlides/notesSlide9.xml" Id="Rb5a698b8ff084f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e62dd0441429f" /><Relationship Type="http://schemas.openxmlformats.org/officeDocument/2006/relationships/notesSlide" Target="/ppt/notesSlides/notesSlide10.xml" Id="R44be62ebe48149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5ADED-7AF5-4CFE-B7D9-CC4AD200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数智选材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967D5-56E3-4C5F-B246-E594B88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E9F3EB"/>
                </a:solidFill>
                <a:latin typeface="Microsoft YaHei"/>
                <a:ea typeface="Microsoft YaHei"/>
                <a:cs typeface="Microsoft YaHei"/>
              </a:rPr>
              <a:t>道路养护材料推荐与协同设计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416F6-6141-457B-8A44-91837B8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rPr>
              <a:t>企业揭榜赛道 HY-01 课题一</a:t>
            </a:r>
          </a:p>
          <a:p xmlns:a="http://schemas.openxmlformats.org/drawingml/2006/main">
            <a:pPr>
              <a:def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5D5CD"/>
                </a:solidFill>
                <a:latin typeface="Microsoft YaHei"/>
                <a:ea typeface="Microsoft YaHei"/>
                <a:cs typeface="Microsoft YaHei"/>
              </a:rPr>
              <a:t>创意方案与可运行概念原型</a:t>
            </a:r>
          </a:p>
        </p:txBody>
      </p:sp>
    </p:spTree>
    <p:extLst>
      <p:ext uri="{BB962C8B-B14F-4D97-AF65-F5344CB8AC3E}">
        <p14:creationId xmlns:p14="http://schemas.microsoft.com/office/powerpoint/2010/main" val="600570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F56EF-0553-4A2C-8DFE-D89AEF19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赛题成果与本作品交付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43B30-6E9D-459F-8816-4C34B044CF62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赛题基本成果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当前交付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完整方案与核心原型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本地浏览器原型及推荐依据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至少三类典型场景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三类明确登记的演示场景规则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不少于五个典型案例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五个构造案例及同池B1对照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数据与技术交接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 结构化数据 OpenAPI与操作记录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</a:tr>
              <a:tr h="6572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应用价值分析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 比较 调整与交接的使用过程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012F3-E08F-443F-85AE-8361F0FA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历史性能值来自企业工作簿，场景要求和案例为演示构造。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35819-C0B3-4953-ADFC-BF125BAD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多性能模型、可靠逆向生成和工程效益属于深化内容。</a:t>
            </a:r>
          </a:p>
        </p:txBody>
      </p:sp>
    </p:spTree>
    <p:extLst>
      <p:ext uri="{BB962C8B-B14F-4D97-AF65-F5344CB8AC3E}">
        <p14:creationId xmlns:p14="http://schemas.microsoft.com/office/powerpoint/2010/main" val="7352682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4FD0F-6030-4F78-BA9D-0AC231C4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三种操作对应三种决策机制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78219-D5C3-462F-B57E-D6277A626841}"/>
              </a:ext>
            </a:extLst>
          </p:cNvPr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095750"/>
                <a:gridCol w="4257675"/>
              </a:tblGrid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工程师操作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系统处理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可检查的结果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T w="6668">
                      <a:solidFill>
                        <a:srgbClr val="CCD7D1"/>
                      </a:solidFill>
                      <a:prstDash val="solid"/>
                    </a:lnT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143F3B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修改硬要求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重新筛选并保留旧决策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要求出处与变更理由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切换优先性能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同一可行集合内重排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并列 取舍与比较理由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EDF1EB"/>
                    </a:solidFill>
                  </a:tcPr>
                </a:tc>
              </a:tr>
              <a:tr h="7810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调整父配方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CCD7D1"/>
                      </a:solidFill>
                      <a:prstDash val="solid"/>
                    </a:lnL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保存带原需求的独立草案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43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改动及新实测未知状态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CCD7D1"/>
                      </a:solidFill>
                      <a:prstDash val="solid"/>
                    </a:lnR>
                    <a:lnB w="6668">
                      <a:solidFill>
                        <a:srgbClr val="CC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436CC-0EA8-4876-A796-924EF45F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五案与全约束查表B1的数值可行数均为 2、2、5、1、0。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E2F0-DF37-411A-8B6C-6AE95AE8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创新定位为应用机制与协同决策设计，同池对照未证明材料性能提升。</a:t>
            </a:r>
          </a:p>
        </p:txBody>
      </p:sp>
    </p:spTree>
    <p:extLst>
      <p:ext uri="{BB962C8B-B14F-4D97-AF65-F5344CB8AC3E}">
        <p14:creationId xmlns:p14="http://schemas.microsoft.com/office/powerpoint/2010/main" val="479893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BB086-F53F-47E5-A715-5EE581C4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C1 高温重载场景的要求与出处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867FE-9F8B-46CE-BF30-50CFC1946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3c7cc234646f8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A4777-169E-4D75-A26C-0D311166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84条目录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2项数值可行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6C933-C84A-4FBA-8805-7947709B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确认场景要求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查看原始数值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追溯源单元格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5A7DC-96E8-4B76-AEA7-32B9876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数值满足仍需核实试验方法与工程适用条件。</a:t>
            </a:r>
          </a:p>
        </p:txBody>
      </p:sp>
    </p:spTree>
    <p:extLst>
      <p:ext uri="{BB962C8B-B14F-4D97-AF65-F5344CB8AC3E}">
        <p14:creationId xmlns:p14="http://schemas.microsoft.com/office/powerpoint/2010/main" val="816939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81B99-2798-471C-B281-A90571AD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C2 保留原需求的配方协同设计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09725-A1F1-4906-BCC2-6965BAC28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672d6762f4c59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32A5F-AB70-4866-BE5B-2A672F74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油石比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4.9% 至 5.0%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2E9D4-E90E-4C1D-8B33-AC7F484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草案保存原需求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和父配方。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新实测保持未知。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0ED7C-0BD6-4AFF-AAD8-9BD81691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两项候选应变均为2525με。此处展示设计过程，不申报材料性能改善。</a:t>
            </a:r>
          </a:p>
        </p:txBody>
      </p:sp>
    </p:spTree>
    <p:extLst>
      <p:ext uri="{BB962C8B-B14F-4D97-AF65-F5344CB8AC3E}">
        <p14:creationId xmlns:p14="http://schemas.microsoft.com/office/powerpoint/2010/main" val="1158772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1E987-EBD0-46E6-B103-37A8A867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C3 多个合理方案之间的性能取舍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64717-6A6E-40B2-B157-CEB8055AAF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cc1478b724af1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5066E-24B3-4D35-9348-A2968A31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5项数值可行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5项均非支配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A10A6-79A2-49E1-9C04-7E56E23F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TSR优先查看H</a:t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残留稳定度优先查看K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偏好只改变顺序。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76C25-D75F-494D-BC71-BDD9B818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图中展示可比较候选的历史值。偏好切换保留全部五项数值可行方案。</a:t>
            </a:r>
          </a:p>
        </p:txBody>
      </p:sp>
    </p:spTree>
    <p:extLst>
      <p:ext uri="{BB962C8B-B14F-4D97-AF65-F5344CB8AC3E}">
        <p14:creationId xmlns:p14="http://schemas.microsoft.com/office/powerpoint/2010/main" val="1170780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58AF0-9B4E-468E-B3A8-2BB5DCDC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C4 资源要求变更的结果预览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D7A56-F3CA-4E29-8829-595F457411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dab5a7b76448b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3130D-282E-4A56-8CFA-DE11AFFC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名义RAP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70% 提高至 75%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A281B-6B9C-44F1-A7C4-68BF5107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0400"/>
            <a:ext cx="30384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已知可行数</a:t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1 变为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确认理由后另存。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49277-DDB7-4B90-BB70-58384EC4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完整目录含缺测。名义RAP约束不直接转换成减碳收益。</a:t>
            </a:r>
          </a:p>
        </p:txBody>
      </p:sp>
    </p:spTree>
    <p:extLst>
      <p:ext uri="{BB962C8B-B14F-4D97-AF65-F5344CB8AC3E}">
        <p14:creationId xmlns:p14="http://schemas.microsoft.com/office/powerpoint/2010/main" val="1598613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2B46A-58D8-4FE3-AFBB-EAD3E84B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C5 无结果时的证据与范围解释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B464F-41BE-46D3-A13E-8D47032F1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9c4e786e4478d"/>
          <a:stretch xmlns:a="http://schemas.openxmlformats.org/drawingml/2006/main"/>
        </p:blipFill>
        <p:spPr>
          <a:xfrm xmlns:a="http://schemas.openxmlformats.org/drawingml/2006/main">
            <a:off x="609600" y="1353145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E7C32-2F90-42A5-BDDA-6DC264C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543050"/>
            <a:ext cx="30384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84条完整目录</a:t>
            </a:r>
          </a:p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证据不足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D1920-4CE6-4E81-84E0-D3044497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33725"/>
            <a:ext cx="303847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35条完整数值子池</a:t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可查看4组最小冲突。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下一步可补资料</a:t>
            </a:r>
          </a:p>
          <a:p xmlns:a="http://schemas.openxmlformats.org/drawingml/2006/main">
            <a:pPr>
              <a:def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或调整要求。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DCBCA-BD61-4919-B51C-27BAE5D9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冲突和删除见证只适用于标明的候选范围及指标子集。</a:t>
            </a:r>
          </a:p>
        </p:txBody>
      </p:sp>
    </p:spTree>
    <p:extLst>
      <p:ext uri="{BB962C8B-B14F-4D97-AF65-F5344CB8AC3E}">
        <p14:creationId xmlns:p14="http://schemas.microsoft.com/office/powerpoint/2010/main" val="585931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73C34-93BF-49DA-B583-C4DA440E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首期服务与后续产品化路径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51CBB-41F5-4EAD-A8B1-79DF9DF2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首期交付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670B6-42EF-453B-A4ED-50C944F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本地软件与数据整理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项目规则配置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案例回放与接口文档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C3A07-CAC5-446F-9FC4-219ED05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推广步骤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BB399-4C1D-4A48-83F6-DFD5D5E9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确认授权与真实需求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小范围试用并按任务验收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再扩展接口与维护服务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C0D53-1E36-43B4-8C1C-85328E7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拟按部署配置与额外接口工作量计费，另约维护服务。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FE38F-CBDB-43D6-842B-59AC738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尚无客户合同、营业收入或真人效率验证，不给出投资回报率。</a:t>
            </a:r>
          </a:p>
        </p:txBody>
      </p:sp>
    </p:spTree>
    <p:extLst>
      <p:ext uri="{BB962C8B-B14F-4D97-AF65-F5344CB8AC3E}">
        <p14:creationId xmlns:p14="http://schemas.microsoft.com/office/powerpoint/2010/main" val="945108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840F9-C5A3-4F25-B62C-3B0D24B8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当前成果与深化设计的边界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90AEF-7F9E-40E9-9C53-973BBF29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7F76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96D10-663D-4AF7-807C-39CC6DD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可运行原型与匿名源码包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三类规则与五案回放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接口 操作视频和软件证据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76F46-D53F-404C-8471-F17C5117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FC032-FDBB-4C38-BB91-2DE1153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稳定优于基准的性能预测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可靠的自动逆向配方生成</a:t>
            </a:r>
          </a:p>
          <a:p xmlns:a="http://schemas.openxmlformats.org/drawingml/2006/main">
            <a:pPr>
              <a:def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33431"/>
                </a:solidFill>
                <a:latin typeface="Microsoft YaHei"/>
                <a:ea typeface="Microsoft YaHei"/>
                <a:cs typeface="Microsoft YaHei"/>
              </a:rPr>
              <a:t>客户试用与工程效益评价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48B6D-7BD6-42BF-A07E-D82A8F2D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F3B"/>
                </a:solidFill>
                <a:latin typeface="Microsoft YaHei"/>
                <a:ea typeface="Microsoft YaHei"/>
                <a:cs typeface="Microsoft YaHei"/>
              </a:rPr>
              <a:t>核心价值是让选材理由、性能取舍和设计改动能够连续交接。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67A75-7DC0-4F6C-B7C7-534C6D99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45F"/>
                </a:solidFill>
                <a:latin typeface="Microsoft YaHei"/>
                <a:ea typeface="Microsoft YaHei"/>
                <a:cs typeface="Microsoft YaHei"/>
              </a:rPr>
              <a:t>五案为构造软件案例，AI操作自测不等同于工程师收益验证。</a:t>
            </a:r>
          </a:p>
        </p:txBody>
      </p:sp>
    </p:spTree>
    <p:extLst>
      <p:ext uri="{BB962C8B-B14F-4D97-AF65-F5344CB8AC3E}">
        <p14:creationId xmlns:p14="http://schemas.microsoft.com/office/powerpoint/2010/main" val="440236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2026-10-24T01:50:42.8090000Z</dcterms:created>
  <dcterms:modified xsi:type="dcterms:W3CDTF">2026-10-24T01:50:42.8090000Z</dcterms:modified>
</coreProperties>
</file>