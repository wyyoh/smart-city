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657714e9a64600" /><Relationship Type="http://schemas.openxmlformats.org/officeDocument/2006/relationships/extended-properties" Target="/docProps/app.xml" Id="Ra168c92b9d244091" /><Relationship Type="http://schemas.openxmlformats.org/officeDocument/2006/relationships/officeDocument" Target="/ppt/presentation.xml" Id="Rfe776b9be4514e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d2df7f4f5e4c93"/>
  </p:sldMasterIdLst>
  <p:notesMasterIdLst>
    <p:notesMasterId xmlns:r="http://schemas.openxmlformats.org/officeDocument/2006/relationships" r:id="R4fa9c0101b1444ea"/>
  </p:notesMasterIdLst>
  <p:sldIdLst>
    <p:sldId xmlns:r="http://schemas.openxmlformats.org/officeDocument/2006/relationships" id="256" r:id="R009efa45765247bb"/>
    <p:sldId xmlns:r="http://schemas.openxmlformats.org/officeDocument/2006/relationships" id="257" r:id="R3671bad732014c19"/>
    <p:sldId xmlns:r="http://schemas.openxmlformats.org/officeDocument/2006/relationships" id="258" r:id="Rbb1f73811c014d94"/>
    <p:sldId xmlns:r="http://schemas.openxmlformats.org/officeDocument/2006/relationships" id="259" r:id="R2318c87a7fc44af4"/>
    <p:sldId xmlns:r="http://schemas.openxmlformats.org/officeDocument/2006/relationships" id="260" r:id="R9759713cd35647d8"/>
    <p:sldId xmlns:r="http://schemas.openxmlformats.org/officeDocument/2006/relationships" id="261" r:id="R6bd30fc64eb948bf"/>
    <p:sldId xmlns:r="http://schemas.openxmlformats.org/officeDocument/2006/relationships" id="262" r:id="R43350cf6d5b64fcc"/>
    <p:sldId xmlns:r="http://schemas.openxmlformats.org/officeDocument/2006/relationships" id="263" r:id="Rc4db94424d654bb9"/>
    <p:sldId xmlns:r="http://schemas.openxmlformats.org/officeDocument/2006/relationships" id="264" r:id="Rf20674f814034e15"/>
    <p:sldId xmlns:r="http://schemas.openxmlformats.org/officeDocument/2006/relationships" id="265" r:id="R9b231099409a44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8e9669ed1a45de" /><Relationship Type="http://schemas.openxmlformats.org/officeDocument/2006/relationships/slideMaster" Target="/ppt/slideMasters/slideMaster1.xml" Id="R28d2df7f4f5e4c93" /><Relationship Type="http://schemas.openxmlformats.org/officeDocument/2006/relationships/notesMaster" Target="/ppt/notesMasters/notesMaster1.xml" Id="R4fa9c0101b1444ea" /><Relationship Type="http://schemas.openxmlformats.org/officeDocument/2006/relationships/presProps" Target="/ppt/presProps.xml" Id="Rd05b9fb1e8ba4d60" /><Relationship Type="http://schemas.openxmlformats.org/officeDocument/2006/relationships/tableStyles" Target="/ppt/tableStyles.xml" Id="R23d9ac816a6d4f6f" /><Relationship Type="http://schemas.openxmlformats.org/officeDocument/2006/relationships/slide" Target="/ppt/slides/slide1.xml" Id="R009efa45765247bb" /><Relationship Type="http://schemas.openxmlformats.org/officeDocument/2006/relationships/slide" Target="/ppt/slides/slide2.xml" Id="R3671bad732014c19" /><Relationship Type="http://schemas.openxmlformats.org/officeDocument/2006/relationships/slide" Target="/ppt/slides/slide3.xml" Id="Rbb1f73811c014d94" /><Relationship Type="http://schemas.openxmlformats.org/officeDocument/2006/relationships/slide" Target="/ppt/slides/slide4.xml" Id="R2318c87a7fc44af4" /><Relationship Type="http://schemas.openxmlformats.org/officeDocument/2006/relationships/slide" Target="/ppt/slides/slide5.xml" Id="R9759713cd35647d8" /><Relationship Type="http://schemas.openxmlformats.org/officeDocument/2006/relationships/slide" Target="/ppt/slides/slide6.xml" Id="R6bd30fc64eb948bf" /><Relationship Type="http://schemas.openxmlformats.org/officeDocument/2006/relationships/slide" Target="/ppt/slides/slide7.xml" Id="R43350cf6d5b64fcc" /><Relationship Type="http://schemas.openxmlformats.org/officeDocument/2006/relationships/slide" Target="/ppt/slides/slide8.xml" Id="Rc4db94424d654bb9" /><Relationship Type="http://schemas.openxmlformats.org/officeDocument/2006/relationships/slide" Target="/ppt/slides/slide9.xml" Id="Rf20674f814034e15" /><Relationship Type="http://schemas.openxmlformats.org/officeDocument/2006/relationships/slide" Target="/ppt/slides/slide10.xml" Id="R9b231099409a44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6dd56ea8aa43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f14c0985394a5b" /><Relationship Type="http://schemas.openxmlformats.org/officeDocument/2006/relationships/notesMaster" Target="/ppt/notesMasters/notesMaster1.xml" Id="R566e74707f5b4c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7e035495c9417f" /><Relationship Type="http://schemas.openxmlformats.org/officeDocument/2006/relationships/notesMaster" Target="/ppt/notesMasters/notesMaster1.xml" Id="R93955ad99b7648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1c39519a764a9a" /><Relationship Type="http://schemas.openxmlformats.org/officeDocument/2006/relationships/notesMaster" Target="/ppt/notesMasters/notesMaster1.xml" Id="R8e22b1b197c64e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84221e7ba04fc8" /><Relationship Type="http://schemas.openxmlformats.org/officeDocument/2006/relationships/notesMaster" Target="/ppt/notesMasters/notesMaster1.xml" Id="R20b18a24089344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5389f4bf024ca4" /><Relationship Type="http://schemas.openxmlformats.org/officeDocument/2006/relationships/notesMaster" Target="/ppt/notesMasters/notesMaster1.xml" Id="R591e593141524e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5e0b302cab474e" /><Relationship Type="http://schemas.openxmlformats.org/officeDocument/2006/relationships/notesMaster" Target="/ppt/notesMasters/notesMaster1.xml" Id="R070ad3263d0247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205a3028184352" /><Relationship Type="http://schemas.openxmlformats.org/officeDocument/2006/relationships/notesMaster" Target="/ppt/notesMasters/notesMaster1.xml" Id="Rf455bbf3cde044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cede5232454394" /><Relationship Type="http://schemas.openxmlformats.org/officeDocument/2006/relationships/notesMaster" Target="/ppt/notesMasters/notesMaster1.xml" Id="Reaaff8fe52a846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7ffa6b82e74353" /><Relationship Type="http://schemas.openxmlformats.org/officeDocument/2006/relationships/notesMaster" Target="/ppt/notesMasters/notesMaster1.xml" Id="Rbcaca3d3bde048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fe2a07f8884b24" /><Relationship Type="http://schemas.openxmlformats.org/officeDocument/2006/relationships/notesMaster" Target="/ppt/notesMasters/notesMaster1.xml" Id="Rc90d29b106a746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作品帮助养护工程师把场景要求落实到材料选择，再沿着准确父配方继续设计。选材理由、性能取舍和实际改动保存在同一案例中，便于复核与交接。研发使用AI辅助，内容复核由参赛者负责。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https://cpipc.acge.org.cn/cw/contestNews/detail/1/2c9080189fb0808c019fc63d2f083049?page=0</a:t>
            </a:r>
          </a:p>
          <a:p xmlns:a="http://schemas.openxmlformats.org/drawingml/2006/main">
            <a:r>
              <a:t>docs/submission-final-v10.md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题一以创意方案和核心原型为基本成果，允许合理构造案例。作品用三类演示规则覆盖高温重载、寒冷裂缝和水损害，再增加资源变更和复合要求，形成五案。作品论文展开数据口径、决策方法、案例结果与计算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https://cpipc.acge.org.cn/cw/contestNews/detail/1/2c9080189ef4ecee019f038802d55c4b?page=0</a:t>
            </a:r>
          </a:p>
          <a:p xmlns:a="http://schemas.openxmlformats.org/drawingml/2006/main">
            <a:r>
              <a:t>https://cpipc.acge.org.cn/cw/contestNews/detail/1/2c9080189fb0808c019fc63d2f083049?page=0</a:t>
            </a:r>
          </a:p>
          <a:p xmlns:a="http://schemas.openxmlformats.org/drawingml/2006/main">
            <a:r>
              <a:t>docs/submission-final-v10.md</a:t>
            </a:r>
          </a:p>
          <a:p xmlns:a="http://schemas.openxmlformats.org/drawingml/2006/main">
            <a:r>
              <a:t>artifacts/submission-v8/verification.json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三个操作改变不同的对象。修改要求会重算候选，切换偏好会重排原集合，调整配方会建立独立草案。分开处理后，工程师能够解释哪些结论随操作更新，并沿着原记录继续工作。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docs/innovation-brief-v8.md</a:t>
            </a:r>
          </a:p>
          <a:p xmlns:a="http://schemas.openxmlformats.org/drawingml/2006/main">
            <a:r>
              <a:t>docs/submission-final-v10.md</a:t>
            </a:r>
          </a:p>
          <a:p xmlns:a="http://schemas.openxmlformats.org/drawingml/2006/main">
            <a:r>
              <a:t>artifacts/polish-v7/completion.json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工程师先确认四项要求，再比较H与R1。H的动稳定度9565次每毫米，R1的应变和TSR更高。要求卡说明阈值依据，材料卡定位原始单元格，两条查证路径共同支持本次选择。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docs/submission-final-v10.md</a:t>
            </a:r>
          </a:p>
          <a:p xmlns:a="http://schemas.openxmlformats.org/drawingml/2006/main">
            <a:r>
              <a:t>artifacts/submission-v8/demo/C1-sources.png</a:t>
            </a:r>
          </a:p>
          <a:p xmlns:a="http://schemas.openxmlformats.org/drawingml/2006/main">
            <a:r>
              <a:t>artifacts/submission-v8/demo/recording.json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寒冷场景的两个候选应变均为2525微应变，比较继续进入TSR，R4进入优先查看位置。工程师从准确父配方的10个假设中筛出7个范围内假设，保持名义组分份额，将油石比4.9%至5.0%的变化保存为草案。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docs/submission-final-v10.md</a:t>
            </a:r>
          </a:p>
          <a:p xmlns:a="http://schemas.openxmlformats.org/drawingml/2006/main">
            <a:r>
              <a:t>artifacts/submission-v8/demo/C2-draft.png</a:t>
            </a:r>
          </a:p>
          <a:p xmlns:a="http://schemas.openxmlformats.org/drawingml/2006/main">
            <a:r>
              <a:t>artifacts/submission-v8/demo/recording.json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水损害案例有5项数值可行，5项均非支配。TSR优先查看H，残留稳定度优先查看K，工程师可按项目偏好比较余量。切换优先性能不改变可行集合。图中的历史数值和目标线帮助说明选择依据。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docs/submission-final-v10.md</a:t>
            </a:r>
          </a:p>
          <a:p xmlns:a="http://schemas.openxmlformats.org/drawingml/2006/main">
            <a:r>
              <a:t>artifacts/submission-v8/demo/C3-chart.png</a:t>
            </a:r>
          </a:p>
          <a:p xmlns:a="http://schemas.openxmlformats.org/drawingml/2006/main">
            <a:r>
              <a:t>artifacts/submission-v8/demo/recording.json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四项性能要求下R5是唯一已知数值可行候选，其名义RAP为70%。将资源门槛提高至75%后，预览显示已知可行数由1变0。工程师查看变动和资料状态，确认理由后保存新需求，原记录保留供比较。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docs/submission-final-v10.md</a:t>
            </a:r>
          </a:p>
          <a:p xmlns:a="http://schemas.openxmlformats.org/drawingml/2006/main">
            <a:r>
              <a:t>artifacts/submission-v8/demo/C4-preview.png</a:t>
            </a:r>
          </a:p>
          <a:p xmlns:a="http://schemas.openxmlformats.org/drawingml/2006/main">
            <a:r>
              <a:t>artifacts/submission-v8/demo/recording.json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84条目录中44条已知失败、40条待补证据，工程师先核查缺测。明确选定35条完整数值子池后，可以查看4组最小冲突。每份证书保存冲突要求、范围和删除见证，帮助讨论补资料或调整指标。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docs/submission-final-v10.md</a:t>
            </a:r>
          </a:p>
          <a:p xmlns:a="http://schemas.openxmlformats.org/drawingml/2006/main">
            <a:r>
              <a:t>artifacts/submission-v8/demo/C5-conflict.png</a:t>
            </a:r>
          </a:p>
          <a:p xmlns:a="http://schemas.openxmlformats.org/drawingml/2006/main">
            <a:r>
              <a:t>artifacts/submission-v8/demo/recording.json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期服务面向拥有历史资料且需要重复选材的养护和材料研发团队。从一个经授权的目录和项目要求起步，交付软件、数据字段、规则和案例回放。试用围绕真实选材、比较与交接任务验收，再按需求增加接口和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docs/business-plan-v10.md</a:t>
            </a:r>
          </a:p>
          <a:p xmlns:a="http://schemas.openxmlformats.org/drawingml/2006/main">
            <a:r>
              <a:t>docs/submission-final-v10.md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交付可运行原型、源码、数据、五案和计算研究。既有记录包括106项Python测试、12项机制检查及14步AI浏览器自测。后续先核实项目规则和材料身份，再组织真实任务试用，依据新增资料扩展性能模型和候选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docs/submission-final-v10.md</a:t>
            </a:r>
          </a:p>
          <a:p xmlns:a="http://schemas.openxmlformats.org/drawingml/2006/main">
            <a:r>
              <a:t>artifacts/submission-v8/verification.json</a:t>
            </a:r>
          </a:p>
          <a:p xmlns:a="http://schemas.openxmlformats.org/drawingml/2006/main">
            <a:r>
              <a:t>artifacts/submission-v8/anonymous-checkout.json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1e27928a94d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25646f6fe46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e5d9d2dbf4c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da9dd66c148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79b3887d242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d7cc2537a49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44D801-6CD9-4E4B-892A-1D3A9AC187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CEBB19-0872-406B-8BBD-7435AFCF15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EF25CD-D9D1-4633-8BFD-AB9D0B998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C2BCCD-FF2A-471C-993F-932AB674B9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A2F5B4-CDE5-46AE-AEF4-FAB6FECA4B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8C18F1-383B-45FA-AAB4-B0CFE9473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6BC15C-94D0-4E15-962E-FED0B2238C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214D08-FE8D-4F21-97B5-1ECD44EAA4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CEF275-A79D-4680-A545-6CE2C284F2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9B1E7B-B0AB-42E2-9819-367DCC7A3E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89d011cc8b4c66" /><Relationship Type="http://schemas.openxmlformats.org/officeDocument/2006/relationships/slideLayout" Target="/ppt/slideLayouts/slideLayout1.xml" Id="R9860b352e04d4e90" /><Relationship Type="http://schemas.openxmlformats.org/officeDocument/2006/relationships/slideLayout" Target="/ppt/slideLayouts/slideLayout2.xml" Id="R2c17976f86c64a39" /><Relationship Type="http://schemas.openxmlformats.org/officeDocument/2006/relationships/slideLayout" Target="/ppt/slideLayouts/slideLayout3.xml" Id="Rda944d7890aa4aa6" /><Relationship Type="http://schemas.openxmlformats.org/officeDocument/2006/relationships/slideLayout" Target="/ppt/slideLayouts/slideLayout4.xml" Id="R5e7d4a5f0b4d4f0a" /><Relationship Type="http://schemas.openxmlformats.org/officeDocument/2006/relationships/slideLayout" Target="/ppt/slideLayouts/slideLayout5.xml" Id="R6acf91fb2d3d4bce" /><Relationship Type="http://schemas.openxmlformats.org/officeDocument/2006/relationships/slideLayout" Target="/ppt/slideLayouts/slideLayout6.xml" Id="Rad8eaf091f4d4e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60b352e04d4e90"/>
    <p:sldLayoutId xmlns:r="http://schemas.openxmlformats.org/officeDocument/2006/relationships" id="2147483650" r:id="R2c17976f86c64a39"/>
    <p:sldLayoutId xmlns:r="http://schemas.openxmlformats.org/officeDocument/2006/relationships" id="2147483651" r:id="Rda944d7890aa4aa6"/>
    <p:sldLayoutId xmlns:r="http://schemas.openxmlformats.org/officeDocument/2006/relationships" id="2147483652" r:id="R5e7d4a5f0b4d4f0a"/>
    <p:sldLayoutId xmlns:r="http://schemas.openxmlformats.org/officeDocument/2006/relationships" id="2147483653" r:id="R6acf91fb2d3d4bce"/>
    <p:sldLayoutId xmlns:r="http://schemas.openxmlformats.org/officeDocument/2006/relationships" id="2147483654" r:id="Rad8eaf091f4d4e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d9cd4b68c486e" /><Relationship Type="http://schemas.openxmlformats.org/officeDocument/2006/relationships/notesSlide" Target="/ppt/notesSlides/notesSlide1.xml" Id="Re56de3e55ccc42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6b39673084d76" /><Relationship Type="http://schemas.openxmlformats.org/officeDocument/2006/relationships/notesSlide" Target="/ppt/notesSlides/notesSlide2.xml" Id="R84ce60b1635841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3dc36f8f14b99" /><Relationship Type="http://schemas.openxmlformats.org/officeDocument/2006/relationships/notesSlide" Target="/ppt/notesSlides/notesSlide3.xml" Id="R346cf0c130f54a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66d4f61956422b" /><Relationship Type="http://schemas.openxmlformats.org/officeDocument/2006/relationships/image" Target="/ppt/media/image.png" Id="R7023129fda854b4d" /><Relationship Type="http://schemas.openxmlformats.org/officeDocument/2006/relationships/notesSlide" Target="/ppt/notesSlides/notesSlide4.xml" Id="Ra2a4d744386e40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b35f8161b4571" /><Relationship Type="http://schemas.openxmlformats.org/officeDocument/2006/relationships/image" Target="/ppt/media/image2.png" Id="Ra3a08c8ed1bf41f3" /><Relationship Type="http://schemas.openxmlformats.org/officeDocument/2006/relationships/notesSlide" Target="/ppt/notesSlides/notesSlide5.xml" Id="R304128e4521a40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7df9d2425d4816" /><Relationship Type="http://schemas.openxmlformats.org/officeDocument/2006/relationships/image" Target="/ppt/media/image3.png" Id="Rd628a54b3e7b4743" /><Relationship Type="http://schemas.openxmlformats.org/officeDocument/2006/relationships/notesSlide" Target="/ppt/notesSlides/notesSlide6.xml" Id="R7fa57fca05af49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99312693534803" /><Relationship Type="http://schemas.openxmlformats.org/officeDocument/2006/relationships/image" Target="/ppt/media/image4.png" Id="R79818f7884ec45f6" /><Relationship Type="http://schemas.openxmlformats.org/officeDocument/2006/relationships/notesSlide" Target="/ppt/notesSlides/notesSlide7.xml" Id="R6843888634fb4b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98bfe531b445d8" /><Relationship Type="http://schemas.openxmlformats.org/officeDocument/2006/relationships/image" Target="/ppt/media/image5.png" Id="Rb83e3c81dbcd4cf8" /><Relationship Type="http://schemas.openxmlformats.org/officeDocument/2006/relationships/notesSlide" Target="/ppt/notesSlides/notesSlide8.xml" Id="R8011cfc596c245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6b7576e064ca1" /><Relationship Type="http://schemas.openxmlformats.org/officeDocument/2006/relationships/notesSlide" Target="/ppt/notesSlides/notesSlide9.xml" Id="Rb27d46eca9064f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06abc0fb0f4ea8" /><Relationship Type="http://schemas.openxmlformats.org/officeDocument/2006/relationships/notesSlide" Target="/ppt/notesSlides/notesSlide10.xml" Id="Ra3fe8eea3d5f4f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2A93F-2BC7-40C4-901E-D7001C98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数智选材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A60E1-8067-4287-B5E8-D7123CC5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rPr>
              <a:t>道路养护材料推荐与协同设计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17B4F-BD60-43B8-88A0-B12BC3E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rPr>
              <a:t>企业揭榜赛道 HY-01 课题一</a:t>
            </a:r>
          </a:p>
          <a:p xmlns:a="http://schemas.openxmlformats.org/drawingml/2006/main">
            <a: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rPr>
              <a:t>创意方案与可运行概念原型</a:t>
            </a:r>
          </a:p>
        </p:txBody>
      </p:sp>
    </p:spTree>
    <p:extLst>
      <p:ext uri="{BB962C8B-B14F-4D97-AF65-F5344CB8AC3E}">
        <p14:creationId xmlns:p14="http://schemas.microsoft.com/office/powerpoint/2010/main" val="1982094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51E2B-3C05-4431-B014-F2F8B9F4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赛题成果与本作品交付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03476-0D4A-4A8B-A455-CF0E75FC4D86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7496175"/>
              </a:tblGrid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赛题基本成果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T w="6668">
                      <a:solidFill>
                        <a:srgbClr val="CCD7D1"/>
                      </a:solidFill>
                      <a:prstDash val="solid"/>
                    </a:lnT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143F3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当前交付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T w="6668">
                      <a:solidFill>
                        <a:srgbClr val="CCD7D1"/>
                      </a:solidFill>
                      <a:prstDash val="solid"/>
                    </a:lnT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143F3B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完整方案与核心原型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本地浏览器原型及推荐依据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至少三类典型场景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三类明确登记的演示场景规则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不少于五个典型案例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五个构造案例及同池B1对照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数据与技术交接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 结构化数据 OpenAPI与操作记录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应用价值分析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选型 比较 调整与交接的使用过程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9998A-981F-4DE0-9E60-C0B0E452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历史性能值来自企业工作簿，场景要求和案例为演示构造。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AC098-A141-44BF-ACEE-01F3E9E9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作品论文、五案记录和计算结果提供逐项查阅依据。</a:t>
            </a:r>
          </a:p>
        </p:txBody>
      </p:sp>
    </p:spTree>
    <p:extLst>
      <p:ext uri="{BB962C8B-B14F-4D97-AF65-F5344CB8AC3E}">
        <p14:creationId xmlns:p14="http://schemas.microsoft.com/office/powerpoint/2010/main" val="13000865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1B3E5-B491-4813-BD74-508410B5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三种操作对应三种决策机制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417D6-40CB-4742-AA80-0B9A954DC708}"/>
              </a:ext>
            </a:extLst>
          </p:cNvPr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095750"/>
                <a:gridCol w="4257675"/>
              </a:tblGrid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工程师操作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T w="6668">
                      <a:solidFill>
                        <a:srgbClr val="CCD7D1"/>
                      </a:solidFill>
                      <a:prstDash val="solid"/>
                    </a:lnT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143F3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系统处理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T w="6668">
                      <a:solidFill>
                        <a:srgbClr val="CCD7D1"/>
                      </a:solidFill>
                      <a:prstDash val="solid"/>
                    </a:lnT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143F3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可检查的结果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T w="6668">
                      <a:solidFill>
                        <a:srgbClr val="CCD7D1"/>
                      </a:solidFill>
                      <a:prstDash val="solid"/>
                    </a:lnT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143F3B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修改硬要求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重新筛选并保留旧决策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要求出处与变更理由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切换优先性能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同一可行集合内重排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并列 取舍与比较理由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调整父配方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保存带原需求的独立草案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组成变化与设计意图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5741E-B651-42EE-AB93-39EF888A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五案与全约束查表B1的数值可行数均为 2、2、5、1、0。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C3EB7-63E9-438D-80CB-794667E3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同池对照核对筛选结果，新增记录解释选择与后续设计。</a:t>
            </a:r>
          </a:p>
        </p:txBody>
      </p:sp>
    </p:spTree>
    <p:extLst>
      <p:ext uri="{BB962C8B-B14F-4D97-AF65-F5344CB8AC3E}">
        <p14:creationId xmlns:p14="http://schemas.microsoft.com/office/powerpoint/2010/main" val="408336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83F8C-CABA-4F76-AA58-D09B446C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C1 高温重载场景的要求与出处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B3071-83BD-4CA2-8B99-0AA747BAE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3129fda854b4d"/>
          <a:stretch xmlns:a="http://schemas.openxmlformats.org/drawingml/2006/main"/>
        </p:blipFill>
        <p:spPr>
          <a:xfrm xmlns:a="http://schemas.openxmlformats.org/drawingml/2006/main">
            <a:off x="609600" y="1353145"/>
            <a:ext cx="7572375" cy="4732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9E1C1-5669-470F-9472-B7E6DA17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43050"/>
            <a:ext cx="30384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84条目录</a:t>
            </a:r>
          </a:p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2项数值可行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24696-BBDB-4870-809E-C3310B8B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00400"/>
            <a:ext cx="30384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确认场景要求</a:t>
            </a:r>
          </a:p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查看原始数值</a:t>
            </a:r>
          </a:p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追溯源单元格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2EEB6-B6D0-486B-BC64-74345A54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要求卡记录阈值依据，材料卡关联原始数据和适用条件。</a:t>
            </a:r>
          </a:p>
        </p:txBody>
      </p:sp>
    </p:spTree>
    <p:extLst>
      <p:ext uri="{BB962C8B-B14F-4D97-AF65-F5344CB8AC3E}">
        <p14:creationId xmlns:p14="http://schemas.microsoft.com/office/powerpoint/2010/main" val="1804492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433D7-6069-48A2-BA89-ADB64726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C2 保留原需求的配方协同设计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3CA47-BF66-421B-8A15-9700B75DF2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08c8ed1bf41f3"/>
          <a:stretch xmlns:a="http://schemas.openxmlformats.org/drawingml/2006/main"/>
        </p:blipFill>
        <p:spPr>
          <a:xfrm xmlns:a="http://schemas.openxmlformats.org/drawingml/2006/main">
            <a:off x="609600" y="1353145"/>
            <a:ext cx="7572375" cy="4732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492B5-71AC-4918-8DDB-21D115D4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43050"/>
            <a:ext cx="30384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油石比</a:t>
            </a:r>
          </a:p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4.9% 至 5.0%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C1E4A-BF36-495D-85E6-0721218F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00400"/>
            <a:ext cx="30384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保留原需求与父配方</a:t>
            </a:r>
          </a:p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锁定名义组分份额</a:t>
            </a:r>
          </a:p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记录改动和设计意图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CD7CD-C171-400A-9845-1A645D48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两项候选应变均为2525με；新草案性能以待验证状态登记。</a:t>
            </a:r>
          </a:p>
        </p:txBody>
      </p:sp>
    </p:spTree>
    <p:extLst>
      <p:ext uri="{BB962C8B-B14F-4D97-AF65-F5344CB8AC3E}">
        <p14:creationId xmlns:p14="http://schemas.microsoft.com/office/powerpoint/2010/main" val="17062679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54D7D-ED08-46CA-BCDA-802E9CCB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C3 多个合理方案之间的性能取舍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AB0C5-2B9F-4BE0-8755-A772736DBE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8a54b3e7b4743"/>
          <a:stretch xmlns:a="http://schemas.openxmlformats.org/drawingml/2006/main"/>
        </p:blipFill>
        <p:spPr>
          <a:xfrm xmlns:a="http://schemas.openxmlformats.org/drawingml/2006/main">
            <a:off x="609600" y="1353145"/>
            <a:ext cx="7572375" cy="4732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2D608-43FD-4E72-A0C1-D01C5569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43050"/>
            <a:ext cx="30384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5项数值可行</a:t>
            </a:r>
          </a:p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5项均非支配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A7596-F965-4EBB-BED0-C6547E73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00400"/>
            <a:ext cx="3038475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TSR优先查看H</a:t>
            </a:r>
          </a:p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残留稳定度优先查看K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偏好只改变顺序。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D625A-4002-4355-B99D-032A7E76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图中展示可比较候选的历史值。偏好切换保留全部五项数值可行方案。</a:t>
            </a:r>
          </a:p>
        </p:txBody>
      </p:sp>
    </p:spTree>
    <p:extLst>
      <p:ext uri="{BB962C8B-B14F-4D97-AF65-F5344CB8AC3E}">
        <p14:creationId xmlns:p14="http://schemas.microsoft.com/office/powerpoint/2010/main" val="535941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E48F4-2429-4ADD-911E-7111CD27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C4 资源要求变更的结果预览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815ED-60DD-4131-A79D-EA1DEEBEF6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18f7884ec45f6"/>
          <a:stretch xmlns:a="http://schemas.openxmlformats.org/drawingml/2006/main"/>
        </p:blipFill>
        <p:spPr>
          <a:xfrm xmlns:a="http://schemas.openxmlformats.org/drawingml/2006/main">
            <a:off x="609600" y="1353145"/>
            <a:ext cx="7572375" cy="4732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9736D-1DF6-45AD-B615-2A34CB4C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43050"/>
            <a:ext cx="30384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名义RAP</a:t>
            </a:r>
          </a:p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70% 提高至 75%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29A26-E18F-495E-A42F-82EB9886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00400"/>
            <a:ext cx="30384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已知可行数</a:t>
            </a:r>
          </a:p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1 变为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确认理由后另存。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1402C-D399-402A-A894-8D46723F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资源条件与性能要求一起保存，原70%需求下的记录可继续回看。</a:t>
            </a:r>
          </a:p>
        </p:txBody>
      </p:sp>
    </p:spTree>
    <p:extLst>
      <p:ext uri="{BB962C8B-B14F-4D97-AF65-F5344CB8AC3E}">
        <p14:creationId xmlns:p14="http://schemas.microsoft.com/office/powerpoint/2010/main" val="120930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FCCDE-4C59-451E-8A4A-02EC3C4C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C5 无结果时的证据与范围解释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0937F-A961-4D1F-97B6-FCB403DD9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e3c81dbcd4cf8"/>
          <a:stretch xmlns:a="http://schemas.openxmlformats.org/drawingml/2006/main"/>
        </p:blipFill>
        <p:spPr>
          <a:xfrm xmlns:a="http://schemas.openxmlformats.org/drawingml/2006/main">
            <a:off x="609600" y="1353145"/>
            <a:ext cx="7572375" cy="4732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C54A3-02FB-4D45-9668-EE0D51B7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43050"/>
            <a:ext cx="30384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84条完整目录</a:t>
            </a:r>
          </a:p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证据不足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336EA-45A2-4FE2-98BC-7B9DB2E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33725"/>
            <a:ext cx="3038475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35条完整数值子池</a:t>
            </a:r>
          </a:p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可查看4组最小冲突。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下一步可补资料</a:t>
            </a:r>
          </a:p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或调整要求。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9C258-71A3-4A2A-858B-C8344463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每份冲突证书同时列出候选范围、指标子集与删除见证。</a:t>
            </a:r>
          </a:p>
        </p:txBody>
      </p:sp>
    </p:spTree>
    <p:extLst>
      <p:ext uri="{BB962C8B-B14F-4D97-AF65-F5344CB8AC3E}">
        <p14:creationId xmlns:p14="http://schemas.microsoft.com/office/powerpoint/2010/main" val="5408572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E9771-14BC-4F78-BB83-A06EF838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首期服务与后续产品化路径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CA0C3-FA64-4DC7-A986-994BF284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首期交付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48CE0-5BDB-4D70-8169-EBA2FB6C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本地软件与数据整理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项目规则配置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案例回放与接口文档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0BCFD-101B-4566-8BC6-6DE4DDCC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906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推广步骤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400E9-8D6C-40E6-BB67-14DAAF32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确认授权与真实需求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小范围试用并按任务验收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再扩展接口与维护服务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1A4A6-DCD5-4861-BE17-A1564366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拟按部署配置与额外接口工作量计费，另约维护服务。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854A3-2F36-43B6-A899-80FBEC1F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报价依据资料整理、部署适配、接口范围和持续支持工作量。</a:t>
            </a:r>
          </a:p>
        </p:txBody>
      </p:sp>
    </p:spTree>
    <p:extLst>
      <p:ext uri="{BB962C8B-B14F-4D97-AF65-F5344CB8AC3E}">
        <p14:creationId xmlns:p14="http://schemas.microsoft.com/office/powerpoint/2010/main" val="16457365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6F584-2AD1-4F26-A2E6-2CE74FDE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成果交付与下一步应用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26C6F-C080-4B05-93AE-01614221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已交付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BC709-1E2C-47A1-AD14-267B1DD1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可运行原型与匿名源码包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三类规则与五案回放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接口 操作视频和软件证据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25F53-50E5-4200-A375-3AB29D02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906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后续应用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7AFF1-E3AB-4EE4-8CF4-C84823FD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接入项目要求与材料资料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开展真实选材和交接试用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扩展性能模型与候选生成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F71FC-E0D7-49A8-B1D9-5965E3EE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核心价值是让选材理由、性能取舍和设计改动能够连续交接。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5C03F-09B7-4114-BEFE-2EAE86CA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数据范围、方法、案例原值与计算记录见作品论文及证据索引。</a:t>
            </a:r>
          </a:p>
        </p:txBody>
      </p:sp>
    </p:spTree>
    <p:extLst>
      <p:ext uri="{BB962C8B-B14F-4D97-AF65-F5344CB8AC3E}">
        <p14:creationId xmlns:p14="http://schemas.microsoft.com/office/powerpoint/2010/main" val="1806147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2026-10-24T07:20:48.0320000Z</dcterms:created>
  <dcterms:modified xsi:type="dcterms:W3CDTF">2026-10-24T07:20:48.0320000Z</dcterms:modified>
</coreProperties>
</file>